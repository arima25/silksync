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888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8d5ZI0mu571jAwsCOVt+F/8oY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C9D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F3A56"/>
                </a:solidFill>
                <a:latin typeface="Calibri"/>
                <a:ea typeface="Calibri"/>
                <a:cs typeface="Calibri"/>
                <a:sym typeface="Calibri"/>
              </a:rPr>
              <a:t>SilkSync 🌏✨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F3A56"/>
                </a:solidFill>
                <a:latin typeface="Calibri"/>
                <a:ea typeface="Calibri"/>
                <a:cs typeface="Calibri"/>
                <a:sym typeface="Calibri"/>
              </a:rPr>
              <a:t>Team BevGo!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914400" y="2926080"/>
            <a:ext cx="10058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F3A56"/>
                </a:solidFill>
                <a:latin typeface="Calibri"/>
                <a:ea typeface="Calibri"/>
                <a:cs typeface="Calibri"/>
                <a:sym typeface="Calibri"/>
              </a:rPr>
              <a:t>👥 Emerson Wang (PO/Frontend), Kevin Zhang (Backend), Jason Pan (Integration), Kiana Penner (QA)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5086538" y="5943600"/>
            <a:ext cx="1714123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Tireless Travel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F3A56"/>
                </a:solidFill>
                <a:latin typeface="Calibri"/>
                <a:ea typeface="Calibri"/>
                <a:cs typeface="Calibri"/>
                <a:sym typeface="Calibri"/>
              </a:rPr>
              <a:t>📅 March 7, 2026</a:t>
            </a:r>
            <a:endParaRPr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3474" y="3604085"/>
            <a:ext cx="4225357" cy="2376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1"/>
            <a:ext cx="121885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304" y="0"/>
            <a:ext cx="1218852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" name="Google Shape;99;p2"/>
          <p:cNvGrpSpPr/>
          <p:nvPr/>
        </p:nvGrpSpPr>
        <p:grpSpPr>
          <a:xfrm>
            <a:off x="-304" y="455386"/>
            <a:ext cx="5377222" cy="6402614"/>
            <a:chOff x="-19221" y="197691"/>
            <a:chExt cx="5378624" cy="6402614"/>
          </a:xfrm>
        </p:grpSpPr>
        <p:sp>
          <p:nvSpPr>
            <p:cNvPr id="100" name="Google Shape;100;p2"/>
            <p:cNvSpPr/>
            <p:nvPr/>
          </p:nvSpPr>
          <p:spPr>
            <a:xfrm>
              <a:off x="-19221" y="251144"/>
              <a:ext cx="5187198" cy="6239661"/>
            </a:xfrm>
            <a:custGeom>
              <a:rect b="b" l="l" r="r" t="t"/>
              <a:pathLst>
                <a:path extrusionOk="0" h="6239661" w="5187198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F79646">
                    <a:alpha val="10196"/>
                  </a:srgbClr>
                </a:gs>
                <a:gs pos="85000">
                  <a:srgbClr val="4F81BD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-19220" y="297400"/>
              <a:ext cx="5215811" cy="6107388"/>
            </a:xfrm>
            <a:custGeom>
              <a:rect b="b" l="l" r="r" t="t"/>
              <a:pathLst>
                <a:path extrusionOk="0" h="6107388" w="5215811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F79646">
                    <a:alpha val="10196"/>
                  </a:srgbClr>
                </a:gs>
                <a:gs pos="85000">
                  <a:srgbClr val="4F81BD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-19221" y="319367"/>
              <a:ext cx="5217956" cy="6100079"/>
            </a:xfrm>
            <a:custGeom>
              <a:rect b="b" l="l" r="r" t="t"/>
              <a:pathLst>
                <a:path extrusionOk="0" h="6100079" w="5217956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F79646">
                    <a:alpha val="10196"/>
                  </a:srgbClr>
                </a:gs>
                <a:gs pos="85000">
                  <a:srgbClr val="4F81BD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-19220" y="319367"/>
              <a:ext cx="5217957" cy="6100079"/>
            </a:xfrm>
            <a:custGeom>
              <a:rect b="b" l="l" r="r" t="t"/>
              <a:pathLst>
                <a:path extrusionOk="0" h="6100079" w="5217957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F79646">
                    <a:alpha val="10196"/>
                  </a:srgbClr>
                </a:gs>
                <a:gs pos="85000">
                  <a:srgbClr val="4F81BD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-19220" y="197691"/>
              <a:ext cx="5378623" cy="6402614"/>
            </a:xfrm>
            <a:custGeom>
              <a:rect b="b" l="l" r="r" t="t"/>
              <a:pathLst>
                <a:path extrusionOk="0" h="6402614" w="5378623">
                  <a:moveTo>
                    <a:pt x="2220349" y="67"/>
                  </a:moveTo>
                  <a:cubicBezTo>
                    <a:pt x="2484151" y="1784"/>
                    <a:pt x="2751801" y="36820"/>
                    <a:pt x="3018161" y="108191"/>
                  </a:cubicBezTo>
                  <a:cubicBezTo>
                    <a:pt x="4722867" y="564965"/>
                    <a:pt x="5729192" y="2337049"/>
                    <a:pt x="5265831" y="4066338"/>
                  </a:cubicBezTo>
                  <a:cubicBezTo>
                    <a:pt x="4947269" y="5255224"/>
                    <a:pt x="4017004" y="6114300"/>
                    <a:pt x="2912752" y="6386691"/>
                  </a:cubicBezTo>
                  <a:lnTo>
                    <a:pt x="2840648" y="6402614"/>
                  </a:lnTo>
                  <a:lnTo>
                    <a:pt x="1474249" y="6402614"/>
                  </a:lnTo>
                  <a:lnTo>
                    <a:pt x="1340218" y="6370360"/>
                  </a:lnTo>
                  <a:cubicBezTo>
                    <a:pt x="914042" y="6256167"/>
                    <a:pt x="531514" y="6059766"/>
                    <a:pt x="204687" y="5802379"/>
                  </a:cubicBezTo>
                  <a:lnTo>
                    <a:pt x="0" y="5624181"/>
                  </a:lnTo>
                  <a:lnTo>
                    <a:pt x="0" y="5197118"/>
                  </a:lnTo>
                  <a:lnTo>
                    <a:pt x="120950" y="5327736"/>
                  </a:lnTo>
                  <a:cubicBezTo>
                    <a:pt x="253827" y="5458395"/>
                    <a:pt x="397634" y="5575985"/>
                    <a:pt x="553277" y="5674143"/>
                  </a:cubicBezTo>
                  <a:cubicBezTo>
                    <a:pt x="708978" y="5772084"/>
                    <a:pt x="875421" y="5851690"/>
                    <a:pt x="1048951" y="5913372"/>
                  </a:cubicBezTo>
                  <a:cubicBezTo>
                    <a:pt x="1070860" y="5920750"/>
                    <a:pt x="1092382" y="5928719"/>
                    <a:pt x="1114406" y="5935664"/>
                  </a:cubicBezTo>
                  <a:lnTo>
                    <a:pt x="1180375" y="5956470"/>
                  </a:lnTo>
                  <a:lnTo>
                    <a:pt x="1247107" y="5975278"/>
                  </a:lnTo>
                  <a:cubicBezTo>
                    <a:pt x="1269462" y="5981848"/>
                    <a:pt x="1291029" y="5986236"/>
                    <a:pt x="1313053" y="5991905"/>
                  </a:cubicBezTo>
                  <a:cubicBezTo>
                    <a:pt x="1400808" y="6012869"/>
                    <a:pt x="1489584" y="6027036"/>
                    <a:pt x="1578771" y="6035400"/>
                  </a:cubicBezTo>
                  <a:cubicBezTo>
                    <a:pt x="1757312" y="6051941"/>
                    <a:pt x="1937844" y="6040152"/>
                    <a:pt x="2116969" y="6005033"/>
                  </a:cubicBezTo>
                  <a:cubicBezTo>
                    <a:pt x="2296104" y="5969454"/>
                    <a:pt x="2473717" y="5910978"/>
                    <a:pt x="2648341" y="5837212"/>
                  </a:cubicBezTo>
                  <a:cubicBezTo>
                    <a:pt x="2823148" y="5763610"/>
                    <a:pt x="2995347" y="5675863"/>
                    <a:pt x="3166862" y="5582136"/>
                  </a:cubicBezTo>
                  <a:cubicBezTo>
                    <a:pt x="3209843" y="5558645"/>
                    <a:pt x="3252667" y="5534880"/>
                    <a:pt x="3295551" y="5510900"/>
                  </a:cubicBezTo>
                  <a:lnTo>
                    <a:pt x="3426292" y="5437546"/>
                  </a:lnTo>
                  <a:cubicBezTo>
                    <a:pt x="3515217" y="5388460"/>
                    <a:pt x="3604599" y="5341930"/>
                    <a:pt x="3693498" y="5296779"/>
                  </a:cubicBezTo>
                  <a:lnTo>
                    <a:pt x="3957511" y="5162806"/>
                  </a:lnTo>
                  <a:cubicBezTo>
                    <a:pt x="4044259" y="5118005"/>
                    <a:pt x="4129592" y="5072941"/>
                    <a:pt x="4212170" y="5024936"/>
                  </a:cubicBezTo>
                  <a:cubicBezTo>
                    <a:pt x="4294563" y="4976766"/>
                    <a:pt x="4374532" y="4926554"/>
                    <a:pt x="4449651" y="4870986"/>
                  </a:cubicBezTo>
                  <a:cubicBezTo>
                    <a:pt x="4524973" y="4815937"/>
                    <a:pt x="4596075" y="4756163"/>
                    <a:pt x="4659728" y="4689640"/>
                  </a:cubicBezTo>
                  <a:cubicBezTo>
                    <a:pt x="4723566" y="4623283"/>
                    <a:pt x="4780828" y="4550758"/>
                    <a:pt x="4830457" y="4472596"/>
                  </a:cubicBezTo>
                  <a:cubicBezTo>
                    <a:pt x="4880087" y="4394434"/>
                    <a:pt x="4921716" y="4310302"/>
                    <a:pt x="4955705" y="4222268"/>
                  </a:cubicBezTo>
                  <a:lnTo>
                    <a:pt x="4968352" y="4189141"/>
                  </a:lnTo>
                  <a:lnTo>
                    <a:pt x="4979564" y="4155400"/>
                  </a:lnTo>
                  <a:lnTo>
                    <a:pt x="4990913" y="4121577"/>
                  </a:lnTo>
                  <a:cubicBezTo>
                    <a:pt x="4994441" y="4110119"/>
                    <a:pt x="4997522" y="4098194"/>
                    <a:pt x="5000865" y="4086570"/>
                  </a:cubicBezTo>
                  <a:lnTo>
                    <a:pt x="5020612" y="4016281"/>
                  </a:lnTo>
                  <a:lnTo>
                    <a:pt x="5030486" y="3981137"/>
                  </a:lnTo>
                  <a:lnTo>
                    <a:pt x="5035423" y="3963565"/>
                  </a:lnTo>
                  <a:lnTo>
                    <a:pt x="5039507" y="3945765"/>
                  </a:lnTo>
                  <a:cubicBezTo>
                    <a:pt x="5050088" y="3898175"/>
                    <a:pt x="5061308" y="3850756"/>
                    <a:pt x="5071597" y="3802972"/>
                  </a:cubicBezTo>
                  <a:lnTo>
                    <a:pt x="5096108" y="3658610"/>
                  </a:lnTo>
                  <a:cubicBezTo>
                    <a:pt x="5102684" y="3610180"/>
                    <a:pt x="5107604" y="3561536"/>
                    <a:pt x="5113299" y="3512985"/>
                  </a:cubicBezTo>
                  <a:lnTo>
                    <a:pt x="5115328" y="3494749"/>
                  </a:lnTo>
                  <a:lnTo>
                    <a:pt x="5116446" y="3476502"/>
                  </a:lnTo>
                  <a:lnTo>
                    <a:pt x="5118711" y="3439898"/>
                  </a:lnTo>
                  <a:lnTo>
                    <a:pt x="5123270" y="3366583"/>
                  </a:lnTo>
                  <a:cubicBezTo>
                    <a:pt x="5126606" y="3268829"/>
                    <a:pt x="5127431" y="3170634"/>
                    <a:pt x="5121172" y="3072860"/>
                  </a:cubicBezTo>
                  <a:lnTo>
                    <a:pt x="5119473" y="3036121"/>
                  </a:lnTo>
                  <a:cubicBezTo>
                    <a:pt x="5118968" y="3023930"/>
                    <a:pt x="5117310" y="3011778"/>
                    <a:pt x="5116244" y="2999552"/>
                  </a:cubicBezTo>
                  <a:lnTo>
                    <a:pt x="5109221" y="2926379"/>
                  </a:lnTo>
                  <a:cubicBezTo>
                    <a:pt x="5105544" y="2877404"/>
                    <a:pt x="5096760" y="2829145"/>
                    <a:pt x="5089643" y="2780639"/>
                  </a:cubicBezTo>
                  <a:lnTo>
                    <a:pt x="5084078" y="2744255"/>
                  </a:lnTo>
                  <a:cubicBezTo>
                    <a:pt x="5082420" y="2732104"/>
                    <a:pt x="5080412" y="2719974"/>
                    <a:pt x="5077785" y="2708026"/>
                  </a:cubicBezTo>
                  <a:lnTo>
                    <a:pt x="5063128" y="2636053"/>
                  </a:lnTo>
                  <a:cubicBezTo>
                    <a:pt x="5057902" y="2612048"/>
                    <a:pt x="5053511" y="2587920"/>
                    <a:pt x="5047530" y="2564176"/>
                  </a:cubicBezTo>
                  <a:lnTo>
                    <a:pt x="5028967" y="2493127"/>
                  </a:lnTo>
                  <a:cubicBezTo>
                    <a:pt x="4979424" y="2303537"/>
                    <a:pt x="4909775" y="2119458"/>
                    <a:pt x="4822623" y="1944830"/>
                  </a:cubicBezTo>
                  <a:cubicBezTo>
                    <a:pt x="4648947" y="1594931"/>
                    <a:pt x="4401749" y="1285261"/>
                    <a:pt x="4108183" y="1038170"/>
                  </a:cubicBezTo>
                  <a:cubicBezTo>
                    <a:pt x="3961444" y="914460"/>
                    <a:pt x="3803854" y="805232"/>
                    <a:pt x="3638213" y="712395"/>
                  </a:cubicBezTo>
                  <a:lnTo>
                    <a:pt x="3575480" y="678662"/>
                  </a:lnTo>
                  <a:cubicBezTo>
                    <a:pt x="3554450" y="667578"/>
                    <a:pt x="3534194" y="655311"/>
                    <a:pt x="3512574" y="645577"/>
                  </a:cubicBezTo>
                  <a:lnTo>
                    <a:pt x="3448603" y="614757"/>
                  </a:lnTo>
                  <a:lnTo>
                    <a:pt x="3416617" y="599347"/>
                  </a:lnTo>
                  <a:cubicBezTo>
                    <a:pt x="3406000" y="594185"/>
                    <a:pt x="3395413" y="588913"/>
                    <a:pt x="3384352" y="584559"/>
                  </a:cubicBezTo>
                  <a:cubicBezTo>
                    <a:pt x="3340850" y="566062"/>
                    <a:pt x="3297707" y="547083"/>
                    <a:pt x="3254088" y="529021"/>
                  </a:cubicBezTo>
                  <a:cubicBezTo>
                    <a:pt x="3209736" y="512847"/>
                    <a:pt x="3165607" y="496270"/>
                    <a:pt x="3121640" y="479505"/>
                  </a:cubicBezTo>
                  <a:lnTo>
                    <a:pt x="2987193" y="436176"/>
                  </a:lnTo>
                  <a:cubicBezTo>
                    <a:pt x="2942116" y="422708"/>
                    <a:pt x="2896575" y="410968"/>
                    <a:pt x="2851296" y="398256"/>
                  </a:cubicBezTo>
                  <a:cubicBezTo>
                    <a:pt x="2759507" y="375285"/>
                    <a:pt x="2666373" y="353923"/>
                    <a:pt x="2573611" y="336717"/>
                  </a:cubicBezTo>
                  <a:cubicBezTo>
                    <a:pt x="2387776" y="301762"/>
                    <a:pt x="2200839" y="280304"/>
                    <a:pt x="2014208" y="276896"/>
                  </a:cubicBezTo>
                  <a:cubicBezTo>
                    <a:pt x="1827605" y="273381"/>
                    <a:pt x="1641223" y="288238"/>
                    <a:pt x="1457097" y="322828"/>
                  </a:cubicBezTo>
                  <a:cubicBezTo>
                    <a:pt x="1272912" y="357634"/>
                    <a:pt x="1091595" y="413727"/>
                    <a:pt x="914684" y="486648"/>
                  </a:cubicBezTo>
                  <a:lnTo>
                    <a:pt x="848661" y="515093"/>
                  </a:lnTo>
                  <a:cubicBezTo>
                    <a:pt x="826573" y="524592"/>
                    <a:pt x="804281" y="533573"/>
                    <a:pt x="782834" y="544519"/>
                  </a:cubicBezTo>
                  <a:lnTo>
                    <a:pt x="717715" y="575988"/>
                  </a:lnTo>
                  <a:cubicBezTo>
                    <a:pt x="696005" y="586632"/>
                    <a:pt x="673986" y="596729"/>
                    <a:pt x="653112" y="608523"/>
                  </a:cubicBezTo>
                  <a:cubicBezTo>
                    <a:pt x="568070" y="653782"/>
                    <a:pt x="483901" y="700897"/>
                    <a:pt x="406671" y="756246"/>
                  </a:cubicBezTo>
                  <a:cubicBezTo>
                    <a:pt x="327441" y="809669"/>
                    <a:pt x="256836" y="872706"/>
                    <a:pt x="191033" y="942131"/>
                  </a:cubicBezTo>
                  <a:cubicBezTo>
                    <a:pt x="175048" y="959988"/>
                    <a:pt x="159064" y="977846"/>
                    <a:pt x="143339" y="996006"/>
                  </a:cubicBezTo>
                  <a:lnTo>
                    <a:pt x="98848" y="1053288"/>
                  </a:lnTo>
                  <a:cubicBezTo>
                    <a:pt x="83542" y="1072023"/>
                    <a:pt x="70312" y="1092822"/>
                    <a:pt x="56083" y="1112657"/>
                  </a:cubicBezTo>
                  <a:cubicBezTo>
                    <a:pt x="42010" y="1132765"/>
                    <a:pt x="27965" y="1152765"/>
                    <a:pt x="14889" y="1173837"/>
                  </a:cubicBezTo>
                  <a:lnTo>
                    <a:pt x="0" y="1198088"/>
                  </a:lnTo>
                  <a:lnTo>
                    <a:pt x="0" y="888809"/>
                  </a:lnTo>
                  <a:lnTo>
                    <a:pt x="88781" y="802825"/>
                  </a:lnTo>
                  <a:cubicBezTo>
                    <a:pt x="672175" y="289643"/>
                    <a:pt x="1428944" y="-5083"/>
                    <a:pt x="2220349" y="6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F79646">
                    <a:alpha val="10196"/>
                  </a:srgbClr>
                </a:gs>
                <a:gs pos="85000">
                  <a:srgbClr val="4F81BD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2"/>
          <p:cNvSpPr txBox="1"/>
          <p:nvPr/>
        </p:nvSpPr>
        <p:spPr>
          <a:xfrm>
            <a:off x="804462" y="2023236"/>
            <a:ext cx="3658824" cy="2820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Problem Domain &amp; Motivation 🚧💭</a:t>
            </a: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6393276" y="955469"/>
            <a:ext cx="4948186" cy="4948186"/>
            <a:chOff x="39851" y="-184"/>
            <a:chExt cx="4948186" cy="4948186"/>
          </a:xfrm>
        </p:grpSpPr>
        <p:sp>
          <p:nvSpPr>
            <p:cNvPr id="107" name="Google Shape;107;p2"/>
            <p:cNvSpPr/>
            <p:nvPr/>
          </p:nvSpPr>
          <p:spPr>
            <a:xfrm>
              <a:off x="3125109" y="109857"/>
              <a:ext cx="1752887" cy="1752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3125109" y="109857"/>
              <a:ext cx="1752887" cy="1752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Firewall restrictions</a:t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9851" y="-184"/>
              <a:ext cx="4948186" cy="4948186"/>
            </a:xfrm>
            <a:custGeom>
              <a:rect b="b" l="l" r="r" t="t"/>
              <a:pathLst>
                <a:path extrusionOk="0" h="120000" w="120000">
                  <a:moveTo>
                    <a:pt x="112125" y="44175"/>
                  </a:moveTo>
                  <a:cubicBezTo>
                    <a:pt x="114585" y="52280"/>
                    <a:pt x="115122" y="60847"/>
                    <a:pt x="113692" y="69196"/>
                  </a:cubicBezTo>
                  <a:lnTo>
                    <a:pt x="118946" y="70791"/>
                  </a:lnTo>
                  <a:lnTo>
                    <a:pt x="108159" y="74621"/>
                  </a:lnTo>
                  <a:lnTo>
                    <a:pt x="100439" y="65172"/>
                  </a:lnTo>
                  <a:lnTo>
                    <a:pt x="105686" y="66765"/>
                  </a:lnTo>
                  <a:cubicBezTo>
                    <a:pt x="106687" y="60010"/>
                    <a:pt x="106176" y="53117"/>
                    <a:pt x="104193" y="46583"/>
                  </a:cubicBezTo>
                  <a:close/>
                </a:path>
              </a:pathLst>
            </a:cu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125109" y="3085073"/>
              <a:ext cx="1752887" cy="1752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3125109" y="3085073"/>
              <a:ext cx="1752887" cy="1752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Unreliable Google Maps</a:t>
              </a: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39851" y="-184"/>
              <a:ext cx="4948186" cy="4948186"/>
            </a:xfrm>
            <a:custGeom>
              <a:rect b="b" l="l" r="r" t="t"/>
              <a:pathLst>
                <a:path extrusionOk="0" h="120000" w="120000">
                  <a:moveTo>
                    <a:pt x="75825" y="112125"/>
                  </a:moveTo>
                  <a:cubicBezTo>
                    <a:pt x="67720" y="114585"/>
                    <a:pt x="59153" y="115122"/>
                    <a:pt x="50804" y="113692"/>
                  </a:cubicBezTo>
                  <a:lnTo>
                    <a:pt x="49209" y="118946"/>
                  </a:lnTo>
                  <a:lnTo>
                    <a:pt x="45379" y="108159"/>
                  </a:lnTo>
                  <a:lnTo>
                    <a:pt x="54828" y="100439"/>
                  </a:lnTo>
                  <a:lnTo>
                    <a:pt x="53235" y="105686"/>
                  </a:lnTo>
                  <a:cubicBezTo>
                    <a:pt x="59990" y="106687"/>
                    <a:pt x="66883" y="106176"/>
                    <a:pt x="73417" y="104193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49893" y="3085073"/>
              <a:ext cx="1752887" cy="1752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149893" y="3085073"/>
              <a:ext cx="1752887" cy="1752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Fragmented travel tools</a:t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9851" y="-184"/>
              <a:ext cx="4948186" cy="4948186"/>
            </a:xfrm>
            <a:custGeom>
              <a:rect b="b" l="l" r="r" t="t"/>
              <a:pathLst>
                <a:path extrusionOk="0" h="120000" w="120000">
                  <a:moveTo>
                    <a:pt x="7875" y="75825"/>
                  </a:moveTo>
                  <a:cubicBezTo>
                    <a:pt x="5415" y="67720"/>
                    <a:pt x="4878" y="59153"/>
                    <a:pt x="6308" y="50804"/>
                  </a:cubicBezTo>
                  <a:lnTo>
                    <a:pt x="1054" y="49209"/>
                  </a:lnTo>
                  <a:lnTo>
                    <a:pt x="11841" y="45379"/>
                  </a:lnTo>
                  <a:lnTo>
                    <a:pt x="19561" y="54828"/>
                  </a:lnTo>
                  <a:lnTo>
                    <a:pt x="14314" y="53235"/>
                  </a:lnTo>
                  <a:cubicBezTo>
                    <a:pt x="13313" y="59990"/>
                    <a:pt x="13824" y="66883"/>
                    <a:pt x="15807" y="73417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49893" y="109857"/>
              <a:ext cx="1752887" cy="1752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149893" y="109857"/>
              <a:ext cx="1752887" cy="1752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Goal: Unified travel experience (train reservations, currency conversion, dual-map navigation)</a:t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9851" y="-184"/>
              <a:ext cx="4948186" cy="4948186"/>
            </a:xfrm>
            <a:custGeom>
              <a:rect b="b" l="l" r="r" t="t"/>
              <a:pathLst>
                <a:path extrusionOk="0" h="120000" w="120000">
                  <a:moveTo>
                    <a:pt x="44175" y="7875"/>
                  </a:moveTo>
                  <a:cubicBezTo>
                    <a:pt x="52280" y="5415"/>
                    <a:pt x="60847" y="4878"/>
                    <a:pt x="69196" y="6308"/>
                  </a:cubicBezTo>
                  <a:lnTo>
                    <a:pt x="70791" y="1054"/>
                  </a:lnTo>
                  <a:lnTo>
                    <a:pt x="74621" y="11841"/>
                  </a:lnTo>
                  <a:lnTo>
                    <a:pt x="65172" y="19561"/>
                  </a:lnTo>
                  <a:lnTo>
                    <a:pt x="66765" y="14314"/>
                  </a:lnTo>
                  <a:cubicBezTo>
                    <a:pt x="60010" y="13313"/>
                    <a:pt x="53117" y="13824"/>
                    <a:pt x="46583" y="15807"/>
                  </a:cubicBezTo>
                  <a:close/>
                </a:path>
              </a:pathLst>
            </a:custGeom>
            <a:solidFill>
              <a:srgbClr val="49ACC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3"/>
          <p:cNvPicPr preferRelativeResize="0"/>
          <p:nvPr/>
        </p:nvPicPr>
        <p:blipFill rotWithShape="1">
          <a:blip r:embed="rId3">
            <a:alphaModFix/>
          </a:blip>
          <a:srcRect b="0" l="0" r="0" t="6226"/>
          <a:stretch/>
        </p:blipFill>
        <p:spPr>
          <a:xfrm>
            <a:off x="20" y="10"/>
            <a:ext cx="1218880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0">
                <a:srgbClr val="EEECE1">
                  <a:alpha val="67843"/>
                </a:srgbClr>
              </a:gs>
              <a:gs pos="10000">
                <a:srgbClr val="EEECE1">
                  <a:alpha val="67843"/>
                </a:srgbClr>
              </a:gs>
              <a:gs pos="85000">
                <a:srgbClr val="EEECE1">
                  <a:alpha val="96862"/>
                </a:srgbClr>
              </a:gs>
              <a:gs pos="100000">
                <a:srgbClr val="EEECE1">
                  <a:alpha val="96862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837981" y="365125"/>
            <a:ext cx="1051286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2F3A56"/>
                </a:solidFill>
                <a:latin typeface="Calibri"/>
                <a:ea typeface="Calibri"/>
                <a:cs typeface="Calibri"/>
                <a:sym typeface="Calibri"/>
              </a:rPr>
              <a:t>System Overview &amp; Key Technologies 🧭⚙️</a:t>
            </a:r>
            <a:endParaRPr/>
          </a:p>
        </p:txBody>
      </p:sp>
      <p:grpSp>
        <p:nvGrpSpPr>
          <p:cNvPr id="126" name="Google Shape;126;p3"/>
          <p:cNvGrpSpPr/>
          <p:nvPr/>
        </p:nvGrpSpPr>
        <p:grpSpPr>
          <a:xfrm>
            <a:off x="837981" y="1825625"/>
            <a:ext cx="10512861" cy="4351337"/>
            <a:chOff x="0" y="0"/>
            <a:chExt cx="10512861" cy="4351337"/>
          </a:xfrm>
        </p:grpSpPr>
        <p:sp>
          <p:nvSpPr>
            <p:cNvPr id="127" name="Google Shape;127;p3"/>
            <p:cNvSpPr/>
            <p:nvPr/>
          </p:nvSpPr>
          <p:spPr>
            <a:xfrm>
              <a:off x="0" y="0"/>
              <a:ext cx="8935932" cy="1305401"/>
            </a:xfrm>
            <a:prstGeom prst="roundRect">
              <a:avLst>
                <a:gd fmla="val 10000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38234" y="38234"/>
              <a:ext cx="7527302" cy="1228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8100" lIns="118100" spcFirstLastPara="1" rIns="118100" wrap="square" tIns="11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Calibri"/>
                <a:buNone/>
              </a:pPr>
              <a:r>
                <a:rPr lang="en-US" sz="3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• Architecture: Geo Dual-Map Architecture</a:t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788464" y="1522968"/>
              <a:ext cx="8935932" cy="1305401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 txBox="1"/>
            <p:nvPr/>
          </p:nvSpPr>
          <p:spPr>
            <a:xfrm>
              <a:off x="826698" y="1561202"/>
              <a:ext cx="7222489" cy="1228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8100" lIns="118100" spcFirstLastPara="1" rIns="118100" wrap="square" tIns="11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Calibri"/>
                <a:buNone/>
              </a:pPr>
              <a:r>
                <a:rPr lang="en-US" sz="3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• Features: Dynamic Budget Mapping, Train-Find Social Sync, </a:t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1576929" y="3045936"/>
              <a:ext cx="8935932" cy="1305401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 txBox="1"/>
            <p:nvPr/>
          </p:nvSpPr>
          <p:spPr>
            <a:xfrm>
              <a:off x="1615163" y="3084170"/>
              <a:ext cx="7222489" cy="1228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8100" lIns="118100" spcFirstLastPara="1" rIns="118100" wrap="square" tIns="11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Calibri"/>
                <a:buNone/>
              </a:pPr>
              <a:r>
                <a:rPr lang="en-US" sz="3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• Technologies: Firebase Auth, Mapbox SDK, Amap SDK, Currency APIs, React, MCP</a:t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8087421" y="989929"/>
              <a:ext cx="848510" cy="84851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7CFCF">
                <a:alpha val="90196"/>
              </a:srgbClr>
            </a:solidFill>
            <a:ln cap="flat" cmpd="sng" w="25400">
              <a:solidFill>
                <a:srgbClr val="E7CFCF">
                  <a:alpha val="9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8278336" y="989929"/>
              <a:ext cx="466680" cy="6385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8875886" y="2504195"/>
              <a:ext cx="848510" cy="84851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DE5D0">
                <a:alpha val="90196"/>
              </a:srgbClr>
            </a:solidFill>
            <a:ln cap="flat" cmpd="sng" w="25400">
              <a:solidFill>
                <a:srgbClr val="DDE5D0">
                  <a:alpha val="9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 txBox="1"/>
            <p:nvPr/>
          </p:nvSpPr>
          <p:spPr>
            <a:xfrm>
              <a:off x="9066801" y="2504195"/>
              <a:ext cx="466680" cy="6385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/>
          <p:nvPr/>
        </p:nvSpPr>
        <p:spPr>
          <a:xfrm>
            <a:off x="0" y="0"/>
            <a:ext cx="12188824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1295062" y="669925"/>
            <a:ext cx="47993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 Demo 📱🎥</a:t>
            </a:r>
            <a:endParaRPr/>
          </a:p>
        </p:txBody>
      </p:sp>
      <p:cxnSp>
        <p:nvCxnSpPr>
          <p:cNvPr id="143" name="Google Shape;143;p4"/>
          <p:cNvCxnSpPr/>
          <p:nvPr/>
        </p:nvCxnSpPr>
        <p:spPr>
          <a:xfrm rot="10800000">
            <a:off x="0" y="2026340"/>
            <a:ext cx="6094412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4"/>
          <p:cNvSpPr txBox="1"/>
          <p:nvPr/>
        </p:nvSpPr>
        <p:spPr>
          <a:xfrm>
            <a:off x="1295062" y="2288833"/>
            <a:ext cx="4799350" cy="3711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1270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Placeholders for screenshots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Login &amp; Sign-Up UI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Cost Breakdown interface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Map transition: Mapbox → Amap</a:t>
            </a:r>
            <a:endParaRPr/>
          </a:p>
        </p:txBody>
      </p:sp>
      <p:pic>
        <p:nvPicPr>
          <p:cNvPr id="145" name="Google Shape;1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9652" y="306652"/>
            <a:ext cx="1266962" cy="278453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/>
          <p:nvPr/>
        </p:nvSpPr>
        <p:spPr>
          <a:xfrm>
            <a:off x="6429928" y="182859"/>
            <a:ext cx="3995220" cy="3177496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6567" y="4064160"/>
            <a:ext cx="3587706" cy="211674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4"/>
          <p:cNvSpPr/>
          <p:nvPr/>
        </p:nvSpPr>
        <p:spPr>
          <a:xfrm>
            <a:off x="7823033" y="3543213"/>
            <a:ext cx="3995220" cy="3177496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51350" y="331397"/>
            <a:ext cx="1224734" cy="2654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94242" y="533243"/>
            <a:ext cx="1403268" cy="2400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" name="Google Shape;156;p5"/>
          <p:cNvGrpSpPr/>
          <p:nvPr/>
        </p:nvGrpSpPr>
        <p:grpSpPr>
          <a:xfrm>
            <a:off x="0" y="0"/>
            <a:ext cx="7465655" cy="6858000"/>
            <a:chOff x="7467600" y="0"/>
            <a:chExt cx="4724400" cy="6858000"/>
          </a:xfrm>
        </p:grpSpPr>
        <p:sp>
          <p:nvSpPr>
            <p:cNvPr id="157" name="Google Shape;157;p5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rgbClr val="FDE9D8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5"/>
          <p:cNvSpPr/>
          <p:nvPr/>
        </p:nvSpPr>
        <p:spPr>
          <a:xfrm>
            <a:off x="0" y="0"/>
            <a:ext cx="7367780" cy="6858000"/>
          </a:xfrm>
          <a:custGeom>
            <a:rect b="b" l="l" r="r" t="t"/>
            <a:pathLst>
              <a:path extrusionOk="0" h="6858000" w="7369701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rgbClr val="EAF1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57080" y="990600"/>
            <a:ext cx="11274664" cy="4876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17500" rotWithShape="0" algn="ctr">
              <a:schemeClr val="dk1">
                <a:alpha val="25098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1142702" y="1676400"/>
            <a:ext cx="3809008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Scrum Process &amp; Project Management 🧩📅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5180254" y="1676400"/>
            <a:ext cx="5637328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1524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Framework: 4-week Scrum cycles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Tools: Jira, Discord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Technique: Planning Poker (Account Core = 21 points)</a:t>
            </a:r>
            <a:endParaRPr/>
          </a:p>
        </p:txBody>
      </p:sp>
      <p:pic>
        <p:nvPicPr>
          <p:cNvPr id="163" name="Google Shape;1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6168" y="3411824"/>
            <a:ext cx="2455576" cy="2455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841028" y="334644"/>
            <a:ext cx="10506768" cy="1076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 ⚠️📈</a:t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842552" y="0"/>
            <a:ext cx="10503720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841028" y="1512994"/>
            <a:ext cx="1050372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3" name="Google Shape;173;p6"/>
          <p:cNvGrpSpPr/>
          <p:nvPr/>
        </p:nvGrpSpPr>
        <p:grpSpPr>
          <a:xfrm>
            <a:off x="907809" y="2407571"/>
            <a:ext cx="10364063" cy="3195001"/>
            <a:chOff x="69828" y="670211"/>
            <a:chExt cx="10364063" cy="3195001"/>
          </a:xfrm>
        </p:grpSpPr>
        <p:sp>
          <p:nvSpPr>
            <p:cNvPr id="174" name="Google Shape;174;p6"/>
            <p:cNvSpPr/>
            <p:nvPr/>
          </p:nvSpPr>
          <p:spPr>
            <a:xfrm>
              <a:off x="673109" y="670211"/>
              <a:ext cx="1887187" cy="1887187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1075297" y="1072399"/>
              <a:ext cx="1082812" cy="108281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69828" y="3145212"/>
              <a:ext cx="309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6"/>
            <p:cNvSpPr txBox="1"/>
            <p:nvPr/>
          </p:nvSpPr>
          <p:spPr>
            <a:xfrm>
              <a:off x="69828" y="3145212"/>
              <a:ext cx="309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KNOWLEDGE GAP: SPRINT 2 PLANNED 49H, ACTUAL 35H</a:t>
              </a:r>
              <a:endParaRPr/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4308266" y="670211"/>
              <a:ext cx="1887187" cy="1887187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4710453" y="1072399"/>
              <a:ext cx="1082812" cy="108281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3704985" y="3145212"/>
              <a:ext cx="309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6"/>
            <p:cNvSpPr txBox="1"/>
            <p:nvPr/>
          </p:nvSpPr>
          <p:spPr>
            <a:xfrm>
              <a:off x="3704985" y="3145212"/>
              <a:ext cx="309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EXTERNAL RISKS: API CREDENTIAL DELAYS</a:t>
              </a: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7943422" y="670211"/>
              <a:ext cx="1887187" cy="1887187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8345610" y="1072399"/>
              <a:ext cx="1082812" cy="108281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7340141" y="3145212"/>
              <a:ext cx="309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6"/>
            <p:cNvSpPr txBox="1"/>
            <p:nvPr/>
          </p:nvSpPr>
          <p:spPr>
            <a:xfrm>
              <a:off x="7340141" y="3145212"/>
              <a:ext cx="309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PO DECISIONS EXAMPLE: MOVE OFFLINE MODE TO BACKLOG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 txBox="1"/>
          <p:nvPr/>
        </p:nvSpPr>
        <p:spPr>
          <a:xfrm>
            <a:off x="8151276" y="1128094"/>
            <a:ext cx="3433286" cy="1415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F3A56"/>
                </a:solidFill>
                <a:latin typeface="Calibri"/>
                <a:ea typeface="Calibri"/>
                <a:cs typeface="Calibri"/>
                <a:sym typeface="Calibri"/>
              </a:rPr>
              <a:t>Lessons Learned &amp; Team Growth 🌱🤝</a:t>
            </a:r>
            <a:endParaRPr/>
          </a:p>
        </p:txBody>
      </p:sp>
      <p:pic>
        <p:nvPicPr>
          <p:cNvPr descr="People working on ideas" id="191" name="Google Shape;191;p7"/>
          <p:cNvPicPr preferRelativeResize="0"/>
          <p:nvPr/>
        </p:nvPicPr>
        <p:blipFill rotWithShape="1">
          <a:blip r:embed="rId3">
            <a:alphaModFix/>
          </a:blip>
          <a:srcRect b="2" l="9861" r="17834" t="0"/>
          <a:stretch/>
        </p:blipFill>
        <p:spPr>
          <a:xfrm>
            <a:off x="-9883" y="10"/>
            <a:ext cx="7570632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7"/>
          <p:cNvCxnSpPr/>
          <p:nvPr/>
        </p:nvCxnSpPr>
        <p:spPr>
          <a:xfrm>
            <a:off x="8197254" y="871146"/>
            <a:ext cx="736747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7"/>
          <p:cNvSpPr txBox="1"/>
          <p:nvPr/>
        </p:nvSpPr>
        <p:spPr>
          <a:xfrm>
            <a:off x="8151276" y="2543364"/>
            <a:ext cx="3433286" cy="3599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1270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F3A56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2F3A56"/>
                </a:solidFill>
                <a:latin typeface="Calibri"/>
                <a:ea typeface="Calibri"/>
                <a:cs typeface="Calibri"/>
                <a:sym typeface="Calibri"/>
              </a:rPr>
              <a:t>Proactive communication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F3A56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2F3A56"/>
                </a:solidFill>
                <a:latin typeface="Calibri"/>
                <a:ea typeface="Calibri"/>
                <a:cs typeface="Calibri"/>
                <a:sym typeface="Calibri"/>
              </a:rPr>
              <a:t>Lab utilization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F3A56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2F3A56"/>
                </a:solidFill>
                <a:latin typeface="Calibri"/>
                <a:ea typeface="Calibri"/>
                <a:cs typeface="Calibri"/>
                <a:sym typeface="Calibri"/>
              </a:rPr>
              <a:t>Collaborative voting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/>
          <p:nvPr/>
        </p:nvSpPr>
        <p:spPr>
          <a:xfrm>
            <a:off x="0" y="0"/>
            <a:ext cx="1218577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837981" y="556995"/>
            <a:ext cx="10512862" cy="1133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 🌟🚀</a:t>
            </a:r>
            <a:endParaRPr/>
          </a:p>
        </p:txBody>
      </p:sp>
      <p:grpSp>
        <p:nvGrpSpPr>
          <p:cNvPr id="200" name="Google Shape;200;p8"/>
          <p:cNvGrpSpPr/>
          <p:nvPr/>
        </p:nvGrpSpPr>
        <p:grpSpPr>
          <a:xfrm>
            <a:off x="2179412" y="2201293"/>
            <a:ext cx="7830000" cy="3600001"/>
            <a:chOff x="1341431" y="375668"/>
            <a:chExt cx="7830000" cy="3600001"/>
          </a:xfrm>
        </p:grpSpPr>
        <p:sp>
          <p:nvSpPr>
            <p:cNvPr id="201" name="Google Shape;201;p8"/>
            <p:cNvSpPr/>
            <p:nvPr/>
          </p:nvSpPr>
          <p:spPr>
            <a:xfrm>
              <a:off x="2043431" y="375668"/>
              <a:ext cx="2196000" cy="2196000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2511431" y="843669"/>
              <a:ext cx="1260000" cy="126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1341431" y="3255669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8"/>
            <p:cNvSpPr txBox="1"/>
            <p:nvPr/>
          </p:nvSpPr>
          <p:spPr>
            <a:xfrm>
              <a:off x="1341431" y="3255669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SUCCESS: DELIVERED A FUNCTIONAL, UNIFIED TRAVEL PLATFORM</a:t>
              </a: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6273431" y="375668"/>
              <a:ext cx="2196000" cy="2196000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6741431" y="843669"/>
              <a:ext cx="1260000" cy="126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8"/>
            <p:cNvSpPr/>
            <p:nvPr/>
          </p:nvSpPr>
          <p:spPr>
            <a:xfrm>
              <a:off x="5571431" y="3255669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8"/>
            <p:cNvSpPr txBox="1"/>
            <p:nvPr/>
          </p:nvSpPr>
          <p:spPr>
            <a:xfrm>
              <a:off x="5571431" y="3255669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FUTURE: IMPLEMENT OFFLINE MODE, REFINE HSR SEARCH FEATURES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>
            <a:off x="0" y="0"/>
            <a:ext cx="1218577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9"/>
          <p:cNvPicPr preferRelativeResize="0"/>
          <p:nvPr/>
        </p:nvPicPr>
        <p:blipFill rotWithShape="1">
          <a:blip r:embed="rId3">
            <a:alphaModFix/>
          </a:blip>
          <a:srcRect b="-1" l="276" r="5632" t="0"/>
          <a:stretch/>
        </p:blipFill>
        <p:spPr>
          <a:xfrm>
            <a:off x="20" y="10"/>
            <a:ext cx="9667104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/>
          <p:nvPr/>
        </p:nvSpPr>
        <p:spPr>
          <a:xfrm flipH="1">
            <a:off x="5123684" y="0"/>
            <a:ext cx="7065138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8656253" y="2147598"/>
            <a:ext cx="3821194" cy="3742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0x010100936204A62997544398EDC878C8FB381D</vt:lpwstr>
  </property>
</Properties>
</file>